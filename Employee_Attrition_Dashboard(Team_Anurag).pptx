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2"/>
  </p:notesMasterIdLst>
  <p:sldIdLst>
    <p:sldId id="292" r:id="rId5"/>
    <p:sldId id="1291" r:id="rId6"/>
    <p:sldId id="1292" r:id="rId7"/>
    <p:sldId id="1294" r:id="rId8"/>
    <p:sldId id="1293" r:id="rId9"/>
    <p:sldId id="1296" r:id="rId10"/>
    <p:sldId id="1250"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C73"/>
    <a:srgbClr val="E8ECF8"/>
    <a:srgbClr val="EF6331"/>
    <a:srgbClr val="223366"/>
    <a:srgbClr val="00717D"/>
    <a:srgbClr val="C9D2ED"/>
    <a:srgbClr val="851910"/>
    <a:srgbClr val="0000FF"/>
    <a:srgbClr val="FFCD8C"/>
    <a:srgbClr val="9F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366" y="138"/>
      </p:cViewPr>
      <p:guideLst>
        <p:guide orient="horz" pos="588"/>
        <p:guide pos="144"/>
        <p:guide orient="horz" pos="8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108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825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122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5323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8027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BA23-5FDD-5D7E-F6FC-E4A6A7F5FDAF}"/>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1DBF0E-B651-D205-69BC-E38929484D98}"/>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5EAFE9-FEB4-90FA-7604-E71268E9BE42}"/>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14-05-2026</a:t>
            </a:fld>
            <a:endParaRPr lang="en-IN"/>
          </a:p>
        </p:txBody>
      </p:sp>
      <p:sp>
        <p:nvSpPr>
          <p:cNvPr id="5" name="Footer Placeholder 4">
            <a:extLst>
              <a:ext uri="{FF2B5EF4-FFF2-40B4-BE49-F238E27FC236}">
                <a16:creationId xmlns:a16="http://schemas.microsoft.com/office/drawing/2014/main" id="{90042C0C-D784-7894-6E7A-A3163E7BD218}"/>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97E244B-37C0-9DC6-22CD-EB660918FB6E}"/>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21215169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2" name="Rectangle 1">
            <a:extLst>
              <a:ext uri="{FF2B5EF4-FFF2-40B4-BE49-F238E27FC236}">
                <a16:creationId xmlns:a16="http://schemas.microsoft.com/office/drawing/2014/main" id="{1C8B4DC1-1FB6-97A3-9F51-B9358500E0A8}"/>
              </a:ext>
            </a:extLst>
          </p:cNvPr>
          <p:cNvSpPr/>
          <p:nvPr userDrawn="1"/>
        </p:nvSpPr>
        <p:spPr>
          <a:xfrm>
            <a:off x="0" y="454356"/>
            <a:ext cx="9144000" cy="45719"/>
          </a:xfrm>
          <a:prstGeom prst="rect">
            <a:avLst/>
          </a:prstGeom>
          <a:solidFill>
            <a:srgbClr val="EF63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97B0C45-392E-206A-6503-A52CA087AB64}"/>
              </a:ext>
            </a:extLst>
          </p:cNvPr>
          <p:cNvSpPr/>
          <p:nvPr userDrawn="1"/>
        </p:nvSpPr>
        <p:spPr>
          <a:xfrm>
            <a:off x="0" y="2445"/>
            <a:ext cx="9144000" cy="467289"/>
          </a:xfrm>
          <a:prstGeom prst="rect">
            <a:avLst/>
          </a:prstGeom>
          <a:solidFill>
            <a:srgbClr val="E8EC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7717638" y="48027"/>
            <a:ext cx="1125129" cy="376123"/>
          </a:xfrm>
          <a:prstGeom prst="rect">
            <a:avLst/>
          </a:prstGeom>
          <a:noFill/>
          <a:ln>
            <a:noFill/>
          </a:ln>
        </p:spPr>
      </p:pic>
      <p:sp>
        <p:nvSpPr>
          <p:cNvPr id="14" name="Rectangle 13">
            <a:extLst>
              <a:ext uri="{FF2B5EF4-FFF2-40B4-BE49-F238E27FC236}">
                <a16:creationId xmlns:a16="http://schemas.microsoft.com/office/drawing/2014/main" id="{51E902BD-DE18-50F7-2A75-FEB6FA54A56F}"/>
              </a:ext>
            </a:extLst>
          </p:cNvPr>
          <p:cNvSpPr/>
          <p:nvPr userDrawn="1"/>
        </p:nvSpPr>
        <p:spPr>
          <a:xfrm>
            <a:off x="0" y="5097781"/>
            <a:ext cx="9144000" cy="457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15"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sv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hyperlink" Target="https://copilotstudio.microsoft.com/environments/Default-ad06ef22-d6dc-4a55-b4c1-c3a158f5f147/bots/cr78b_copilot1tJ7uAB/canva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1drv.ms/x/c/b4e2ab19d56b2907/EQ9Kv3wjKfFImq2vJnfZ08ABR4C86m6g3teS0F11n51J1Q?e=xdJXPo"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48131F8-7219-F30F-23C3-B1A523F13B4D}"/>
              </a:ext>
            </a:extLst>
          </p:cNvPr>
          <p:cNvSpPr/>
          <p:nvPr/>
        </p:nvSpPr>
        <p:spPr>
          <a:xfrm>
            <a:off x="0" y="8878"/>
            <a:ext cx="9144000" cy="51435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descr="A group of people sitting around a table&#10;&#10;Description automatically generated">
            <a:extLst>
              <a:ext uri="{FF2B5EF4-FFF2-40B4-BE49-F238E27FC236}">
                <a16:creationId xmlns:a16="http://schemas.microsoft.com/office/drawing/2014/main" id="{F50512D5-A288-DE64-5FE5-FAA83B724C73}"/>
              </a:ext>
            </a:extLst>
          </p:cNvPr>
          <p:cNvPicPr>
            <a:picLocks noChangeAspect="1"/>
          </p:cNvPicPr>
          <p:nvPr/>
        </p:nvPicPr>
        <p:blipFill rotWithShape="1">
          <a:blip r:embed="rId3"/>
          <a:srcRect r="27854" b="25110"/>
          <a:stretch/>
        </p:blipFill>
        <p:spPr>
          <a:xfrm>
            <a:off x="3591976" y="-2697"/>
            <a:ext cx="5563599" cy="3851975"/>
          </a:xfrm>
          <a:prstGeom prst="rect">
            <a:avLst/>
          </a:prstGeom>
        </p:spPr>
      </p:pic>
      <p:grpSp>
        <p:nvGrpSpPr>
          <p:cNvPr id="9" name="Group 6">
            <a:extLst>
              <a:ext uri="{FF2B5EF4-FFF2-40B4-BE49-F238E27FC236}">
                <a16:creationId xmlns:a16="http://schemas.microsoft.com/office/drawing/2014/main" id="{ED09A716-F5FD-30AD-BA53-B5110DF9CEEE}"/>
              </a:ext>
            </a:extLst>
          </p:cNvPr>
          <p:cNvGrpSpPr/>
          <p:nvPr/>
        </p:nvGrpSpPr>
        <p:grpSpPr>
          <a:xfrm>
            <a:off x="552672" y="1325358"/>
            <a:ext cx="5347819" cy="2630034"/>
            <a:chOff x="-30164" y="-47625"/>
            <a:chExt cx="1548591" cy="761590"/>
          </a:xfrm>
        </p:grpSpPr>
        <p:sp>
          <p:nvSpPr>
            <p:cNvPr id="10" name="Freeform 7">
              <a:extLst>
                <a:ext uri="{FF2B5EF4-FFF2-40B4-BE49-F238E27FC236}">
                  <a16:creationId xmlns:a16="http://schemas.microsoft.com/office/drawing/2014/main" id="{6A1020B1-E8B3-2D26-3C61-328C79130C0D}"/>
                </a:ext>
              </a:extLst>
            </p:cNvPr>
            <p:cNvSpPr/>
            <p:nvPr/>
          </p:nvSpPr>
          <p:spPr>
            <a:xfrm>
              <a:off x="-30164" y="0"/>
              <a:ext cx="1548591" cy="713965"/>
            </a:xfrm>
            <a:custGeom>
              <a:avLst/>
              <a:gdLst/>
              <a:ahLst/>
              <a:cxnLst/>
              <a:rect l="l" t="t" r="r" b="b"/>
              <a:pathLst>
                <a:path w="1223699" h="713965">
                  <a:moveTo>
                    <a:pt x="0" y="0"/>
                  </a:moveTo>
                  <a:lnTo>
                    <a:pt x="1223699" y="0"/>
                  </a:lnTo>
                  <a:lnTo>
                    <a:pt x="1223699" y="713965"/>
                  </a:lnTo>
                  <a:lnTo>
                    <a:pt x="0" y="713965"/>
                  </a:lnTo>
                  <a:close/>
                </a:path>
              </a:pathLst>
            </a:custGeom>
            <a:solidFill>
              <a:srgbClr val="FFFFFF"/>
            </a:solidFill>
          </p:spPr>
          <p:txBody>
            <a:bodyPr/>
            <a:lstStyle/>
            <a:p>
              <a:endParaRPr lang="en-US"/>
            </a:p>
          </p:txBody>
        </p:sp>
        <p:sp>
          <p:nvSpPr>
            <p:cNvPr id="11" name="TextBox 8">
              <a:extLst>
                <a:ext uri="{FF2B5EF4-FFF2-40B4-BE49-F238E27FC236}">
                  <a16:creationId xmlns:a16="http://schemas.microsoft.com/office/drawing/2014/main" id="{2F1C3D6B-7CF9-2BD5-8B36-9878D3FBC36D}"/>
                </a:ext>
              </a:extLst>
            </p:cNvPr>
            <p:cNvSpPr txBox="1"/>
            <p:nvPr/>
          </p:nvSpPr>
          <p:spPr>
            <a:xfrm>
              <a:off x="0" y="-47625"/>
              <a:ext cx="1223699" cy="761589"/>
            </a:xfrm>
            <a:prstGeom prst="rect">
              <a:avLst/>
            </a:prstGeom>
          </p:spPr>
          <p:txBody>
            <a:bodyPr lIns="50800" tIns="50800" rIns="50800" bIns="50800" rtlCol="0" anchor="ctr"/>
            <a:lstStyle/>
            <a:p>
              <a:pPr algn="ctr">
                <a:lnSpc>
                  <a:spcPts val="2239"/>
                </a:lnSpc>
              </a:pPr>
              <a:endParaRPr/>
            </a:p>
          </p:txBody>
        </p:sp>
      </p:grpSp>
      <p:grpSp>
        <p:nvGrpSpPr>
          <p:cNvPr id="12" name="Group 9">
            <a:extLst>
              <a:ext uri="{FF2B5EF4-FFF2-40B4-BE49-F238E27FC236}">
                <a16:creationId xmlns:a16="http://schemas.microsoft.com/office/drawing/2014/main" id="{AE32C22C-3FDB-2396-2943-AFA12977BDA2}"/>
              </a:ext>
            </a:extLst>
          </p:cNvPr>
          <p:cNvGrpSpPr/>
          <p:nvPr/>
        </p:nvGrpSpPr>
        <p:grpSpPr>
          <a:xfrm>
            <a:off x="793587" y="1098363"/>
            <a:ext cx="4820890" cy="773873"/>
            <a:chOff x="-117556" y="-72266"/>
            <a:chExt cx="1991689" cy="319716"/>
          </a:xfrm>
        </p:grpSpPr>
        <p:sp>
          <p:nvSpPr>
            <p:cNvPr id="13" name="Freeform 10">
              <a:extLst>
                <a:ext uri="{FF2B5EF4-FFF2-40B4-BE49-F238E27FC236}">
                  <a16:creationId xmlns:a16="http://schemas.microsoft.com/office/drawing/2014/main" id="{DD5D5B45-D48F-CBC2-FAE6-3C32D4CA4A54}"/>
                </a:ext>
              </a:extLst>
            </p:cNvPr>
            <p:cNvSpPr/>
            <p:nvPr/>
          </p:nvSpPr>
          <p:spPr>
            <a:xfrm>
              <a:off x="-117556" y="-72266"/>
              <a:ext cx="1991689" cy="319716"/>
            </a:xfrm>
            <a:custGeom>
              <a:avLst/>
              <a:gdLst/>
              <a:ahLst/>
              <a:cxnLst/>
              <a:rect l="l" t="t" r="r" b="b"/>
              <a:pathLst>
                <a:path w="736235" h="178921">
                  <a:moveTo>
                    <a:pt x="0" y="0"/>
                  </a:moveTo>
                  <a:lnTo>
                    <a:pt x="736235" y="0"/>
                  </a:lnTo>
                  <a:lnTo>
                    <a:pt x="736235" y="178921"/>
                  </a:lnTo>
                  <a:lnTo>
                    <a:pt x="0" y="178921"/>
                  </a:lnTo>
                  <a:close/>
                </a:path>
              </a:pathLst>
            </a:custGeom>
            <a:solidFill>
              <a:srgbClr val="E8ECF8"/>
            </a:solidFill>
            <a:ln cap="sq">
              <a:noFill/>
              <a:prstDash val="solid"/>
              <a:miter/>
            </a:ln>
          </p:spPr>
          <p:txBody>
            <a:bodyPr/>
            <a:lstStyle/>
            <a:p>
              <a:endParaRPr lang="en-US"/>
            </a:p>
          </p:txBody>
        </p:sp>
        <p:sp>
          <p:nvSpPr>
            <p:cNvPr id="14" name="TextBox 11">
              <a:extLst>
                <a:ext uri="{FF2B5EF4-FFF2-40B4-BE49-F238E27FC236}">
                  <a16:creationId xmlns:a16="http://schemas.microsoft.com/office/drawing/2014/main" id="{D4602096-BB2A-D06A-F2F9-A1B85FB7B21D}"/>
                </a:ext>
              </a:extLst>
            </p:cNvPr>
            <p:cNvSpPr txBox="1"/>
            <p:nvPr/>
          </p:nvSpPr>
          <p:spPr>
            <a:xfrm>
              <a:off x="0" y="-66675"/>
              <a:ext cx="736235" cy="245596"/>
            </a:xfrm>
            <a:prstGeom prst="rect">
              <a:avLst/>
            </a:prstGeom>
          </p:spPr>
          <p:txBody>
            <a:bodyPr lIns="50800" tIns="50800" rIns="50800" bIns="50800" rtlCol="0" anchor="ctr"/>
            <a:lstStyle/>
            <a:p>
              <a:pPr marL="0" lvl="0" indent="0" algn="ctr">
                <a:lnSpc>
                  <a:spcPts val="3500"/>
                </a:lnSpc>
                <a:spcBef>
                  <a:spcPct val="0"/>
                </a:spcBef>
              </a:pPr>
              <a:endParaRPr/>
            </a:p>
          </p:txBody>
        </p:sp>
      </p:grpSp>
      <p:sp>
        <p:nvSpPr>
          <p:cNvPr id="16" name="Freeform 13">
            <a:extLst>
              <a:ext uri="{FF2B5EF4-FFF2-40B4-BE49-F238E27FC236}">
                <a16:creationId xmlns:a16="http://schemas.microsoft.com/office/drawing/2014/main" id="{E92715B5-E2D3-4776-93F0-B360B5A59553}"/>
              </a:ext>
            </a:extLst>
          </p:cNvPr>
          <p:cNvSpPr/>
          <p:nvPr/>
        </p:nvSpPr>
        <p:spPr>
          <a:xfrm>
            <a:off x="1783618" y="199"/>
            <a:ext cx="1032349" cy="451764"/>
          </a:xfrm>
          <a:custGeom>
            <a:avLst/>
            <a:gdLst/>
            <a:ahLst/>
            <a:cxnLst/>
            <a:rect l="l" t="t" r="r" b="b"/>
            <a:pathLst>
              <a:path w="2102123" h="919905">
                <a:moveTo>
                  <a:pt x="0" y="0"/>
                </a:moveTo>
                <a:lnTo>
                  <a:pt x="2102123" y="0"/>
                </a:lnTo>
                <a:lnTo>
                  <a:pt x="2102123" y="919905"/>
                </a:lnTo>
                <a:lnTo>
                  <a:pt x="0" y="919905"/>
                </a:lnTo>
                <a:lnTo>
                  <a:pt x="0" y="0"/>
                </a:lnTo>
                <a:close/>
              </a:path>
            </a:pathLst>
          </a:custGeom>
          <a:blipFill dpi="0" rotWithShape="1">
            <a:blip r:embed="rId4">
              <a:alphaModFix amt="32000"/>
              <a:extLst>
                <a:ext uri="{96DAC541-7B7A-43D3-8B79-37D633B846F1}">
                  <asvg:svgBlip xmlns:asvg="http://schemas.microsoft.com/office/drawing/2016/SVG/main" r:embed="rId5"/>
                </a:ext>
              </a:extLst>
            </a:blip>
            <a:srcRect/>
            <a:stretch>
              <a:fillRect t="-106728" r="-65303"/>
            </a:stretch>
          </a:blipFill>
        </p:spPr>
        <p:txBody>
          <a:bodyPr/>
          <a:lstStyle/>
          <a:p>
            <a:endParaRPr lang="en-US"/>
          </a:p>
        </p:txBody>
      </p:sp>
      <p:sp>
        <p:nvSpPr>
          <p:cNvPr id="17" name="Freeform 14">
            <a:extLst>
              <a:ext uri="{FF2B5EF4-FFF2-40B4-BE49-F238E27FC236}">
                <a16:creationId xmlns:a16="http://schemas.microsoft.com/office/drawing/2014/main" id="{E93B0532-3834-38EB-306B-BB126F538A06}"/>
              </a:ext>
            </a:extLst>
          </p:cNvPr>
          <p:cNvSpPr/>
          <p:nvPr/>
        </p:nvSpPr>
        <p:spPr>
          <a:xfrm>
            <a:off x="151647" y="93093"/>
            <a:ext cx="770970" cy="773872"/>
          </a:xfrm>
          <a:custGeom>
            <a:avLst/>
            <a:gdLst/>
            <a:ahLst/>
            <a:cxnLst/>
            <a:rect l="l" t="t" r="r" b="b"/>
            <a:pathLst>
              <a:path w="1569889" h="1575798">
                <a:moveTo>
                  <a:pt x="0" y="0"/>
                </a:moveTo>
                <a:lnTo>
                  <a:pt x="1569889" y="0"/>
                </a:lnTo>
                <a:lnTo>
                  <a:pt x="1569889" y="1575798"/>
                </a:lnTo>
                <a:lnTo>
                  <a:pt x="0" y="1575798"/>
                </a:lnTo>
                <a:lnTo>
                  <a:pt x="0" y="0"/>
                </a:lnTo>
                <a:close/>
              </a:path>
            </a:pathLst>
          </a:custGeom>
          <a:blipFill dpi="0" rotWithShape="1">
            <a:blip r:embed="rId6">
              <a:alphaModFix amt="30000"/>
              <a:extLst>
                <a:ext uri="{96DAC541-7B7A-43D3-8B79-37D633B846F1}">
                  <asvg:svgBlip xmlns:asvg="http://schemas.microsoft.com/office/drawing/2016/SVG/main" r:embed="rId7"/>
                </a:ext>
              </a:extLst>
            </a:blip>
            <a:srcRect/>
            <a:stretch>
              <a:fillRect/>
            </a:stretch>
          </a:blipFill>
        </p:spPr>
        <p:txBody>
          <a:bodyPr/>
          <a:lstStyle/>
          <a:p>
            <a:endParaRPr lang="en-US"/>
          </a:p>
        </p:txBody>
      </p:sp>
      <p:sp>
        <p:nvSpPr>
          <p:cNvPr id="35" name="TextBox 34">
            <a:extLst>
              <a:ext uri="{FF2B5EF4-FFF2-40B4-BE49-F238E27FC236}">
                <a16:creationId xmlns:a16="http://schemas.microsoft.com/office/drawing/2014/main" id="{B1520DAD-F8CC-E505-163A-1A40C1FCC226}"/>
              </a:ext>
            </a:extLst>
          </p:cNvPr>
          <p:cNvSpPr txBox="1"/>
          <p:nvPr/>
        </p:nvSpPr>
        <p:spPr>
          <a:xfrm>
            <a:off x="771414" y="2085695"/>
            <a:ext cx="4089105" cy="954107"/>
          </a:xfrm>
          <a:prstGeom prst="rect">
            <a:avLst/>
          </a:prstGeom>
          <a:noFill/>
        </p:spPr>
        <p:txBody>
          <a:bodyPr wrap="square" rtlCol="0">
            <a:spAutoFit/>
          </a:bodyPr>
          <a:lstStyle/>
          <a:p>
            <a:r>
              <a:rPr lang="en-US" sz="2800" b="1" dirty="0">
                <a:solidFill>
                  <a:schemeClr val="tx1"/>
                </a:solidFill>
              </a:rPr>
              <a:t>Employee Attrition Analysis </a:t>
            </a:r>
            <a:endParaRPr lang="en-US" sz="2800" dirty="0">
              <a:solidFill>
                <a:schemeClr val="tx1"/>
              </a:solidFill>
            </a:endParaRPr>
          </a:p>
        </p:txBody>
      </p:sp>
      <p:pic>
        <p:nvPicPr>
          <p:cNvPr id="39" name="Picture 38" descr="A group of people looking at a computer&#10;&#10;Description automatically generated">
            <a:extLst>
              <a:ext uri="{FF2B5EF4-FFF2-40B4-BE49-F238E27FC236}">
                <a16:creationId xmlns:a16="http://schemas.microsoft.com/office/drawing/2014/main" id="{18A248EA-6D70-BC00-C66F-B374210692E6}"/>
              </a:ext>
            </a:extLst>
          </p:cNvPr>
          <p:cNvPicPr>
            <a:picLocks noChangeAspect="1"/>
          </p:cNvPicPr>
          <p:nvPr/>
        </p:nvPicPr>
        <p:blipFill rotWithShape="1">
          <a:blip r:embed="rId8"/>
          <a:srcRect t="62443" r="30604" b="14243"/>
          <a:stretch/>
        </p:blipFill>
        <p:spPr>
          <a:xfrm>
            <a:off x="-8839" y="3956265"/>
            <a:ext cx="3569383" cy="1199146"/>
          </a:xfrm>
          <a:prstGeom prst="rect">
            <a:avLst/>
          </a:prstGeom>
        </p:spPr>
      </p:pic>
      <p:sp>
        <p:nvSpPr>
          <p:cNvPr id="40" name="Google Shape;70;p13">
            <a:extLst>
              <a:ext uri="{FF2B5EF4-FFF2-40B4-BE49-F238E27FC236}">
                <a16:creationId xmlns:a16="http://schemas.microsoft.com/office/drawing/2014/main" id="{574F20A4-E865-2423-673E-2D8E75BC50D9}"/>
              </a:ext>
            </a:extLst>
          </p:cNvPr>
          <p:cNvSpPr txBox="1"/>
          <p:nvPr/>
        </p:nvSpPr>
        <p:spPr>
          <a:xfrm>
            <a:off x="3705805" y="3971818"/>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dirty="0">
                <a:solidFill>
                  <a:schemeClr val="bg1"/>
                </a:solidFill>
                <a:latin typeface="Arial"/>
                <a:ea typeface="Arial"/>
                <a:cs typeface="Arial"/>
                <a:sym typeface="Arial"/>
              </a:rPr>
              <a:t>Team Members</a:t>
            </a:r>
          </a:p>
        </p:txBody>
      </p:sp>
      <p:sp>
        <p:nvSpPr>
          <p:cNvPr id="41" name="TextBox 40">
            <a:extLst>
              <a:ext uri="{FF2B5EF4-FFF2-40B4-BE49-F238E27FC236}">
                <a16:creationId xmlns:a16="http://schemas.microsoft.com/office/drawing/2014/main" id="{94658D58-B26B-B263-E4E7-719E9EA907D6}"/>
              </a:ext>
            </a:extLst>
          </p:cNvPr>
          <p:cNvSpPr txBox="1"/>
          <p:nvPr/>
        </p:nvSpPr>
        <p:spPr>
          <a:xfrm>
            <a:off x="3705805" y="4198813"/>
            <a:ext cx="2168784" cy="1041311"/>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fi-FI" sz="1100" dirty="0">
                <a:solidFill>
                  <a:schemeClr val="bg1"/>
                </a:solidFill>
              </a:rPr>
              <a:t>Anurag Vishwakarm	</a:t>
            </a:r>
            <a:endParaRPr lang="en-US" dirty="0">
              <a:solidFill>
                <a:schemeClr val="bg1"/>
              </a:solidFill>
            </a:endParaRPr>
          </a:p>
          <a:p>
            <a:pPr marL="228600" indent="-228600">
              <a:spcAft>
                <a:spcPts val="200"/>
              </a:spcAft>
              <a:buClr>
                <a:schemeClr val="bg1"/>
              </a:buClr>
              <a:buAutoNum type="arabicPeriod"/>
            </a:pPr>
            <a:r>
              <a:rPr lang="fi-FI" sz="1100" dirty="0">
                <a:solidFill>
                  <a:schemeClr val="bg1"/>
                </a:solidFill>
              </a:rPr>
              <a:t>Vinay Rajpoot</a:t>
            </a:r>
          </a:p>
          <a:p>
            <a:pPr marL="228600" indent="-228600">
              <a:spcAft>
                <a:spcPts val="200"/>
              </a:spcAft>
              <a:buClr>
                <a:schemeClr val="bg1"/>
              </a:buClr>
              <a:buAutoNum type="arabicPeriod"/>
            </a:pPr>
            <a:r>
              <a:rPr lang="fi-FI" sz="1100" dirty="0">
                <a:solidFill>
                  <a:schemeClr val="bg1"/>
                </a:solidFill>
              </a:rPr>
              <a:t>Kuldeep Singh Gaur</a:t>
            </a:r>
          </a:p>
          <a:p>
            <a:pPr marL="228600" indent="-228600">
              <a:spcAft>
                <a:spcPts val="200"/>
              </a:spcAft>
              <a:buClr>
                <a:schemeClr val="bg1"/>
              </a:buClr>
              <a:buAutoNum type="arabicPeriod"/>
            </a:pPr>
            <a:r>
              <a:rPr lang="fi-FI" sz="1100" dirty="0">
                <a:solidFill>
                  <a:schemeClr val="bg1"/>
                </a:solidFill>
              </a:rPr>
              <a:t>Ekta Sahu</a:t>
            </a:r>
          </a:p>
          <a:p>
            <a:pPr marL="228600" indent="-228600">
              <a:spcAft>
                <a:spcPts val="200"/>
              </a:spcAft>
              <a:buClr>
                <a:schemeClr val="bg1"/>
              </a:buClr>
              <a:buAutoNum type="arabicPeriod"/>
            </a:pPr>
            <a:r>
              <a:rPr lang="fi-FI" sz="1100" dirty="0">
                <a:solidFill>
                  <a:schemeClr val="bg1"/>
                </a:solidFill>
              </a:rPr>
              <a:t>Srashti Sahu</a:t>
            </a:r>
          </a:p>
        </p:txBody>
      </p:sp>
      <p:cxnSp>
        <p:nvCxnSpPr>
          <p:cNvPr id="42" name="Straight Connector 41">
            <a:extLst>
              <a:ext uri="{FF2B5EF4-FFF2-40B4-BE49-F238E27FC236}">
                <a16:creationId xmlns:a16="http://schemas.microsoft.com/office/drawing/2014/main" id="{DDA9C646-678B-4CA4-AAF5-5A0CA4DB2AC5}"/>
              </a:ext>
            </a:extLst>
          </p:cNvPr>
          <p:cNvCxnSpPr>
            <a:cxnSpLocks/>
          </p:cNvCxnSpPr>
          <p:nvPr/>
        </p:nvCxnSpPr>
        <p:spPr>
          <a:xfrm>
            <a:off x="3705805" y="4168851"/>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sp>
        <p:nvSpPr>
          <p:cNvPr id="44" name="Google Shape;70;p13">
            <a:extLst>
              <a:ext uri="{FF2B5EF4-FFF2-40B4-BE49-F238E27FC236}">
                <a16:creationId xmlns:a16="http://schemas.microsoft.com/office/drawing/2014/main" id="{43C0C02E-B24A-392F-8483-77C0267C88E1}"/>
              </a:ext>
            </a:extLst>
          </p:cNvPr>
          <p:cNvSpPr txBox="1"/>
          <p:nvPr/>
        </p:nvSpPr>
        <p:spPr>
          <a:xfrm>
            <a:off x="6609792" y="3971817"/>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a:solidFill>
                  <a:schemeClr val="bg1"/>
                </a:solidFill>
                <a:latin typeface="Arial"/>
                <a:ea typeface="Arial"/>
                <a:cs typeface="Arial"/>
                <a:sym typeface="Arial"/>
              </a:rPr>
              <a:t>Guided by</a:t>
            </a:r>
          </a:p>
        </p:txBody>
      </p:sp>
      <p:sp>
        <p:nvSpPr>
          <p:cNvPr id="45" name="TextBox 44">
            <a:extLst>
              <a:ext uri="{FF2B5EF4-FFF2-40B4-BE49-F238E27FC236}">
                <a16:creationId xmlns:a16="http://schemas.microsoft.com/office/drawing/2014/main" id="{5F6B4A00-040F-FDB6-2131-846EB7188C53}"/>
              </a:ext>
            </a:extLst>
          </p:cNvPr>
          <p:cNvSpPr txBox="1"/>
          <p:nvPr/>
        </p:nvSpPr>
        <p:spPr>
          <a:xfrm>
            <a:off x="6562814" y="4380193"/>
            <a:ext cx="2168784" cy="261610"/>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en-US" sz="1100" dirty="0">
                <a:solidFill>
                  <a:schemeClr val="bg1"/>
                </a:solidFill>
              </a:rPr>
              <a:t>Saksham Mishra</a:t>
            </a:r>
            <a:endParaRPr lang="fi-FI" sz="1100" dirty="0">
              <a:solidFill>
                <a:schemeClr val="bg1"/>
              </a:solidFill>
            </a:endParaRPr>
          </a:p>
        </p:txBody>
      </p:sp>
      <p:cxnSp>
        <p:nvCxnSpPr>
          <p:cNvPr id="46" name="Straight Connector 45">
            <a:extLst>
              <a:ext uri="{FF2B5EF4-FFF2-40B4-BE49-F238E27FC236}">
                <a16:creationId xmlns:a16="http://schemas.microsoft.com/office/drawing/2014/main" id="{7C930180-14D0-979F-80DC-202E3B74AD60}"/>
              </a:ext>
            </a:extLst>
          </p:cNvPr>
          <p:cNvCxnSpPr>
            <a:cxnSpLocks/>
          </p:cNvCxnSpPr>
          <p:nvPr/>
        </p:nvCxnSpPr>
        <p:spPr>
          <a:xfrm>
            <a:off x="6609792" y="4280394"/>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242FDAC4-AE27-C374-87FA-1488045722F0}"/>
              </a:ext>
            </a:extLst>
          </p:cNvPr>
          <p:cNvGrpSpPr/>
          <p:nvPr/>
        </p:nvGrpSpPr>
        <p:grpSpPr>
          <a:xfrm>
            <a:off x="1402805" y="1159739"/>
            <a:ext cx="3608846" cy="660460"/>
            <a:chOff x="1516338" y="1159739"/>
            <a:chExt cx="3608846" cy="660460"/>
          </a:xfrm>
        </p:grpSpPr>
        <p:cxnSp>
          <p:nvCxnSpPr>
            <p:cNvPr id="48" name="Straight Connector 47">
              <a:extLst>
                <a:ext uri="{FF2B5EF4-FFF2-40B4-BE49-F238E27FC236}">
                  <a16:creationId xmlns:a16="http://schemas.microsoft.com/office/drawing/2014/main" id="{E7602FD7-B850-30FC-6F11-B26765319CF5}"/>
                </a:ext>
              </a:extLst>
            </p:cNvPr>
            <p:cNvCxnSpPr>
              <a:cxnSpLocks/>
            </p:cNvCxnSpPr>
            <p:nvPr/>
          </p:nvCxnSpPr>
          <p:spPr>
            <a:xfrm>
              <a:off x="3969406"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49" name="Google Shape;110;p4" descr="A close up of a sign&#10;&#10;Description automatically generated">
              <a:extLst>
                <a:ext uri="{FF2B5EF4-FFF2-40B4-BE49-F238E27FC236}">
                  <a16:creationId xmlns:a16="http://schemas.microsoft.com/office/drawing/2014/main" id="{321F3B6E-D5C9-7BFA-7BDB-50FF890BB654}"/>
                </a:ext>
              </a:extLst>
            </p:cNvPr>
            <p:cNvPicPr preferRelativeResize="0"/>
            <p:nvPr/>
          </p:nvPicPr>
          <p:blipFill rotWithShape="1">
            <a:blip r:embed="rId9">
              <a:alphaModFix/>
            </a:blip>
            <a:srcRect/>
            <a:stretch/>
          </p:blipFill>
          <p:spPr>
            <a:xfrm>
              <a:off x="4237873" y="1341787"/>
              <a:ext cx="887311" cy="296622"/>
            </a:xfrm>
            <a:prstGeom prst="rect">
              <a:avLst/>
            </a:prstGeom>
            <a:noFill/>
            <a:ln>
              <a:noFill/>
            </a:ln>
          </p:spPr>
        </p:pic>
        <p:pic>
          <p:nvPicPr>
            <p:cNvPr id="50" name="Picture 49">
              <a:extLst>
                <a:ext uri="{FF2B5EF4-FFF2-40B4-BE49-F238E27FC236}">
                  <a16:creationId xmlns:a16="http://schemas.microsoft.com/office/drawing/2014/main" id="{E97570DF-6F54-74D9-731F-612CF788DA56}"/>
                </a:ext>
              </a:extLst>
            </p:cNvPr>
            <p:cNvPicPr/>
            <p:nvPr/>
          </p:nvPicPr>
          <p:blipFill>
            <a:blip r:embed="rId10"/>
            <a:stretch/>
          </p:blipFill>
          <p:spPr>
            <a:xfrm>
              <a:off x="1516338" y="1351451"/>
              <a:ext cx="1069048" cy="277034"/>
            </a:xfrm>
            <a:prstGeom prst="rect">
              <a:avLst/>
            </a:prstGeom>
            <a:ln w="0">
              <a:noFill/>
            </a:ln>
          </p:spPr>
        </p:pic>
        <p:cxnSp>
          <p:nvCxnSpPr>
            <p:cNvPr id="51" name="Straight Connector 50">
              <a:extLst>
                <a:ext uri="{FF2B5EF4-FFF2-40B4-BE49-F238E27FC236}">
                  <a16:creationId xmlns:a16="http://schemas.microsoft.com/office/drawing/2014/main" id="{C2C4709E-5DC8-3087-4DFF-5FD21D1AA1BA}"/>
                </a:ext>
              </a:extLst>
            </p:cNvPr>
            <p:cNvCxnSpPr>
              <a:cxnSpLocks/>
            </p:cNvCxnSpPr>
            <p:nvPr/>
          </p:nvCxnSpPr>
          <p:spPr>
            <a:xfrm>
              <a:off x="2615873"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52" name="Picture 51" descr="A logo with tools in a circle&#10;&#10;Description automatically generated">
              <a:extLst>
                <a:ext uri="{FF2B5EF4-FFF2-40B4-BE49-F238E27FC236}">
                  <a16:creationId xmlns:a16="http://schemas.microsoft.com/office/drawing/2014/main" id="{D5514759-EB9F-E36E-1FFF-E3E7F1E44AE5}"/>
                </a:ext>
              </a:extLst>
            </p:cNvPr>
            <p:cNvPicPr>
              <a:picLocks noChangeAspect="1"/>
            </p:cNvPicPr>
            <p:nvPr/>
          </p:nvPicPr>
          <p:blipFill>
            <a:blip r:embed="rId11"/>
            <a:stretch>
              <a:fillRect/>
            </a:stretch>
          </p:blipFill>
          <p:spPr>
            <a:xfrm>
              <a:off x="2993928" y="1159739"/>
              <a:ext cx="658966" cy="66046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687AFAD5-578C-DC2D-F127-90FF4287354D}"/>
              </a:ext>
            </a:extLst>
          </p:cNvPr>
          <p:cNvSpPr txBox="1"/>
          <p:nvPr/>
        </p:nvSpPr>
        <p:spPr>
          <a:xfrm>
            <a:off x="143933" y="683683"/>
            <a:ext cx="4428068" cy="338554"/>
          </a:xfrm>
          <a:prstGeom prst="rect">
            <a:avLst/>
          </a:prstGeom>
          <a:noFill/>
        </p:spPr>
        <p:txBody>
          <a:bodyPr wrap="square">
            <a:spAutoFit/>
          </a:bodyPr>
          <a:lstStyle/>
          <a:p>
            <a:r>
              <a:rPr lang="en-IN" sz="1600" b="1">
                <a:solidFill>
                  <a:srgbClr val="213163"/>
                </a:solidFill>
              </a:rPr>
              <a:t>Problem Statement</a:t>
            </a:r>
            <a:endParaRPr lang="en-IN" sz="1600">
              <a:solidFill>
                <a:srgbClr val="213163"/>
              </a:solidFill>
            </a:endParaRPr>
          </a:p>
        </p:txBody>
      </p:sp>
      <p:pic>
        <p:nvPicPr>
          <p:cNvPr id="7" name="Picture 6" descr="A cartoon of a person holding a book&#10;&#10;Description automatically generated">
            <a:extLst>
              <a:ext uri="{FF2B5EF4-FFF2-40B4-BE49-F238E27FC236}">
                <a16:creationId xmlns:a16="http://schemas.microsoft.com/office/drawing/2014/main" id="{27276879-51B0-342E-6B09-4EA7C9230A70}"/>
              </a:ext>
            </a:extLst>
          </p:cNvPr>
          <p:cNvPicPr>
            <a:picLocks noChangeAspect="1"/>
          </p:cNvPicPr>
          <p:nvPr/>
        </p:nvPicPr>
        <p:blipFill rotWithShape="1">
          <a:blip r:embed="rId3"/>
          <a:srcRect b="41075"/>
          <a:stretch/>
        </p:blipFill>
        <p:spPr>
          <a:xfrm>
            <a:off x="5112433" y="1147011"/>
            <a:ext cx="2351445" cy="3521243"/>
          </a:xfrm>
          <a:prstGeom prst="rect">
            <a:avLst/>
          </a:prstGeom>
        </p:spPr>
      </p:pic>
      <p:pic>
        <p:nvPicPr>
          <p:cNvPr id="8" name="Picture 7" descr="A blue question mark on a black background&#10;&#10;Description automatically generated">
            <a:extLst>
              <a:ext uri="{FF2B5EF4-FFF2-40B4-BE49-F238E27FC236}">
                <a16:creationId xmlns:a16="http://schemas.microsoft.com/office/drawing/2014/main" id="{AEF795B9-59D0-E5F1-B10D-DC58713F5459}"/>
              </a:ext>
            </a:extLst>
          </p:cNvPr>
          <p:cNvPicPr>
            <a:picLocks noChangeAspect="1"/>
          </p:cNvPicPr>
          <p:nvPr/>
        </p:nvPicPr>
        <p:blipFill>
          <a:blip r:embed="rId4"/>
          <a:stretch>
            <a:fillRect/>
          </a:stretch>
        </p:blipFill>
        <p:spPr>
          <a:xfrm>
            <a:off x="6575258" y="2627897"/>
            <a:ext cx="2260934" cy="2260934"/>
          </a:xfrm>
          <a:prstGeom prst="rect">
            <a:avLst/>
          </a:prstGeom>
        </p:spPr>
      </p:pic>
      <p:sp>
        <p:nvSpPr>
          <p:cNvPr id="5" name="Rectangle 3">
            <a:extLst>
              <a:ext uri="{FF2B5EF4-FFF2-40B4-BE49-F238E27FC236}">
                <a16:creationId xmlns:a16="http://schemas.microsoft.com/office/drawing/2014/main" id="{0409BA97-D394-4904-B407-CBE136F85DE1}"/>
              </a:ext>
            </a:extLst>
          </p:cNvPr>
          <p:cNvSpPr>
            <a:spLocks noChangeArrowheads="1"/>
          </p:cNvSpPr>
          <p:nvPr/>
        </p:nvSpPr>
        <p:spPr bwMode="auto">
          <a:xfrm>
            <a:off x="134415" y="723071"/>
            <a:ext cx="371867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main purpose of this project is to analyze employee data and identify the major reasons behind employee attrition in an organization.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This project helps in understanding why employees leave the company and what factors influence their decision to stay or resign.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analysis focuses on important employee-related factors such as age, department, job role, salary, job satisfaction, overtime, work-life balance, and years of experience.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project aims to compare attrition rates across different departments and employee categories to identify high-risk areas within the organization.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4604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F4D5078D-F8F7-912B-4E9C-BED71500ACC2}"/>
              </a:ext>
            </a:extLst>
          </p:cNvPr>
          <p:cNvSpPr txBox="1"/>
          <p:nvPr/>
        </p:nvSpPr>
        <p:spPr>
          <a:xfrm>
            <a:off x="143933" y="683683"/>
            <a:ext cx="4428068" cy="338554"/>
          </a:xfrm>
          <a:prstGeom prst="rect">
            <a:avLst/>
          </a:prstGeom>
          <a:noFill/>
        </p:spPr>
        <p:txBody>
          <a:bodyPr wrap="square">
            <a:spAutoFit/>
          </a:bodyPr>
          <a:lstStyle/>
          <a:p>
            <a:r>
              <a:rPr lang="en-US" sz="1600" b="1">
                <a:solidFill>
                  <a:srgbClr val="002060"/>
                </a:solidFill>
                <a:latin typeface="Arial"/>
                <a:ea typeface="Arial"/>
                <a:cs typeface="Arial"/>
                <a:sym typeface="Arial"/>
              </a:rPr>
              <a:t>Solution</a:t>
            </a:r>
            <a:endParaRPr lang="en-IN" sz="1600">
              <a:solidFill>
                <a:srgbClr val="213163"/>
              </a:solidFill>
            </a:endParaRPr>
          </a:p>
        </p:txBody>
      </p:sp>
      <p:grpSp>
        <p:nvGrpSpPr>
          <p:cNvPr id="25" name="Group 24">
            <a:extLst>
              <a:ext uri="{FF2B5EF4-FFF2-40B4-BE49-F238E27FC236}">
                <a16:creationId xmlns:a16="http://schemas.microsoft.com/office/drawing/2014/main" id="{D00F2964-0D4F-F880-A09E-E7A62DA0D8AD}"/>
              </a:ext>
            </a:extLst>
          </p:cNvPr>
          <p:cNvGrpSpPr/>
          <p:nvPr/>
        </p:nvGrpSpPr>
        <p:grpSpPr>
          <a:xfrm>
            <a:off x="4957011" y="1136519"/>
            <a:ext cx="4296704" cy="3560273"/>
            <a:chOff x="4957011" y="1136519"/>
            <a:chExt cx="4296704" cy="3560273"/>
          </a:xfrm>
        </p:grpSpPr>
        <p:grpSp>
          <p:nvGrpSpPr>
            <p:cNvPr id="14" name="Group 13">
              <a:extLst>
                <a:ext uri="{FF2B5EF4-FFF2-40B4-BE49-F238E27FC236}">
                  <a16:creationId xmlns:a16="http://schemas.microsoft.com/office/drawing/2014/main" id="{4CBDDE1E-3117-B64C-BB4F-1DE4EAC4051A}"/>
                </a:ext>
              </a:extLst>
            </p:cNvPr>
            <p:cNvGrpSpPr/>
            <p:nvPr/>
          </p:nvGrpSpPr>
          <p:grpSpPr>
            <a:xfrm>
              <a:off x="5693442" y="1136519"/>
              <a:ext cx="3560273" cy="3560273"/>
              <a:chOff x="4955715" y="1142768"/>
              <a:chExt cx="3560273" cy="3560273"/>
            </a:xfrm>
          </p:grpSpPr>
          <p:pic>
            <p:nvPicPr>
              <p:cNvPr id="15" name="Graphic 2" descr="Building with solid fill">
                <a:extLst>
                  <a:ext uri="{FF2B5EF4-FFF2-40B4-BE49-F238E27FC236}">
                    <a16:creationId xmlns:a16="http://schemas.microsoft.com/office/drawing/2014/main" id="{EB410575-724F-E860-628D-9E31E8990C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5715" y="1142768"/>
                <a:ext cx="3560273" cy="3560273"/>
              </a:xfrm>
              <a:prstGeom prst="rect">
                <a:avLst/>
              </a:prstGeom>
            </p:spPr>
          </p:pic>
          <p:pic>
            <p:nvPicPr>
              <p:cNvPr id="16" name="Picture 15" descr="A green leafy plant with black background&#10;&#10;Description automatically generated">
                <a:extLst>
                  <a:ext uri="{FF2B5EF4-FFF2-40B4-BE49-F238E27FC236}">
                    <a16:creationId xmlns:a16="http://schemas.microsoft.com/office/drawing/2014/main" id="{FA96A03D-8AC6-DF53-33DC-7FEC5CC4951F}"/>
                  </a:ext>
                </a:extLst>
              </p:cNvPr>
              <p:cNvPicPr>
                <a:picLocks noChangeAspect="1"/>
              </p:cNvPicPr>
              <p:nvPr/>
            </p:nvPicPr>
            <p:blipFill>
              <a:blip r:embed="rId5"/>
              <a:stretch>
                <a:fillRect/>
              </a:stretch>
            </p:blipFill>
            <p:spPr>
              <a:xfrm>
                <a:off x="7432037" y="4000732"/>
                <a:ext cx="463488" cy="463488"/>
              </a:xfrm>
              <a:prstGeom prst="rect">
                <a:avLst/>
              </a:prstGeom>
            </p:spPr>
          </p:pic>
          <p:pic>
            <p:nvPicPr>
              <p:cNvPr id="17" name="Picture 16" descr="A green leafy plant with black background&#10;&#10;Description automatically generated">
                <a:extLst>
                  <a:ext uri="{FF2B5EF4-FFF2-40B4-BE49-F238E27FC236}">
                    <a16:creationId xmlns:a16="http://schemas.microsoft.com/office/drawing/2014/main" id="{0C87976D-9ED4-94B4-E12D-0E81648990E7}"/>
                  </a:ext>
                </a:extLst>
              </p:cNvPr>
              <p:cNvPicPr>
                <a:picLocks noChangeAspect="1"/>
              </p:cNvPicPr>
              <p:nvPr/>
            </p:nvPicPr>
            <p:blipFill>
              <a:blip r:embed="rId5"/>
              <a:stretch>
                <a:fillRect/>
              </a:stretch>
            </p:blipFill>
            <p:spPr>
              <a:xfrm>
                <a:off x="5474975" y="3992712"/>
                <a:ext cx="463488" cy="463488"/>
              </a:xfrm>
              <a:prstGeom prst="rect">
                <a:avLst/>
              </a:prstGeom>
            </p:spPr>
          </p:pic>
          <p:pic>
            <p:nvPicPr>
              <p:cNvPr id="18" name="Picture 17" descr="A green leafy plant with black background&#10;&#10;Description automatically generated">
                <a:extLst>
                  <a:ext uri="{FF2B5EF4-FFF2-40B4-BE49-F238E27FC236}">
                    <a16:creationId xmlns:a16="http://schemas.microsoft.com/office/drawing/2014/main" id="{162C682B-F14F-E745-A95B-324697E9C870}"/>
                  </a:ext>
                </a:extLst>
              </p:cNvPr>
              <p:cNvPicPr>
                <a:picLocks noChangeAspect="1"/>
              </p:cNvPicPr>
              <p:nvPr/>
            </p:nvPicPr>
            <p:blipFill>
              <a:blip r:embed="rId5"/>
              <a:stretch>
                <a:fillRect/>
              </a:stretch>
            </p:blipFill>
            <p:spPr>
              <a:xfrm>
                <a:off x="5926171" y="3992712"/>
                <a:ext cx="463488" cy="463488"/>
              </a:xfrm>
              <a:prstGeom prst="rect">
                <a:avLst/>
              </a:prstGeom>
            </p:spPr>
          </p:pic>
          <p:pic>
            <p:nvPicPr>
              <p:cNvPr id="19" name="Picture 18" descr="A green leafy plant with black background&#10;&#10;Description automatically generated">
                <a:extLst>
                  <a:ext uri="{FF2B5EF4-FFF2-40B4-BE49-F238E27FC236}">
                    <a16:creationId xmlns:a16="http://schemas.microsoft.com/office/drawing/2014/main" id="{B8208A31-28D7-AFA6-DB42-EB7415CD5BD7}"/>
                  </a:ext>
                </a:extLst>
              </p:cNvPr>
              <p:cNvPicPr>
                <a:picLocks noChangeAspect="1"/>
              </p:cNvPicPr>
              <p:nvPr/>
            </p:nvPicPr>
            <p:blipFill>
              <a:blip r:embed="rId5"/>
              <a:stretch>
                <a:fillRect/>
              </a:stretch>
            </p:blipFill>
            <p:spPr>
              <a:xfrm>
                <a:off x="6389659" y="3992712"/>
                <a:ext cx="463488" cy="463488"/>
              </a:xfrm>
              <a:prstGeom prst="rect">
                <a:avLst/>
              </a:prstGeom>
            </p:spPr>
          </p:pic>
          <p:pic>
            <p:nvPicPr>
              <p:cNvPr id="20" name="Picture 19" descr="A green leafy plant with black background&#10;&#10;Description automatically generated">
                <a:extLst>
                  <a:ext uri="{FF2B5EF4-FFF2-40B4-BE49-F238E27FC236}">
                    <a16:creationId xmlns:a16="http://schemas.microsoft.com/office/drawing/2014/main" id="{921D4573-E89C-F978-B60F-75ABAB718726}"/>
                  </a:ext>
                </a:extLst>
              </p:cNvPr>
              <p:cNvPicPr>
                <a:picLocks noChangeAspect="1"/>
              </p:cNvPicPr>
              <p:nvPr/>
            </p:nvPicPr>
            <p:blipFill>
              <a:blip r:embed="rId5"/>
              <a:stretch>
                <a:fillRect/>
              </a:stretch>
            </p:blipFill>
            <p:spPr>
              <a:xfrm>
                <a:off x="6807588" y="3992712"/>
                <a:ext cx="463488" cy="463488"/>
              </a:xfrm>
              <a:prstGeom prst="rect">
                <a:avLst/>
              </a:prstGeom>
            </p:spPr>
          </p:pic>
          <p:pic>
            <p:nvPicPr>
              <p:cNvPr id="21" name="Picture 20" descr="A green leafy plant with black background&#10;&#10;Description automatically generated">
                <a:extLst>
                  <a:ext uri="{FF2B5EF4-FFF2-40B4-BE49-F238E27FC236}">
                    <a16:creationId xmlns:a16="http://schemas.microsoft.com/office/drawing/2014/main" id="{DD649A93-C91B-E486-EA5E-C080F29D6825}"/>
                  </a:ext>
                </a:extLst>
              </p:cNvPr>
              <p:cNvPicPr>
                <a:picLocks noChangeAspect="1"/>
              </p:cNvPicPr>
              <p:nvPr/>
            </p:nvPicPr>
            <p:blipFill>
              <a:blip r:embed="rId5"/>
              <a:stretch>
                <a:fillRect/>
              </a:stretch>
            </p:blipFill>
            <p:spPr>
              <a:xfrm>
                <a:off x="7119213" y="3992712"/>
                <a:ext cx="463488" cy="463488"/>
              </a:xfrm>
              <a:prstGeom prst="rect">
                <a:avLst/>
              </a:prstGeom>
            </p:spPr>
          </p:pic>
        </p:grpSp>
        <p:sp>
          <p:nvSpPr>
            <p:cNvPr id="22" name="Oval 21">
              <a:extLst>
                <a:ext uri="{FF2B5EF4-FFF2-40B4-BE49-F238E27FC236}">
                  <a16:creationId xmlns:a16="http://schemas.microsoft.com/office/drawing/2014/main" id="{560C6BA6-5F2D-8F9B-162A-E34B8A491099}"/>
                </a:ext>
              </a:extLst>
            </p:cNvPr>
            <p:cNvSpPr/>
            <p:nvPr/>
          </p:nvSpPr>
          <p:spPr>
            <a:xfrm>
              <a:off x="4957011" y="1389708"/>
              <a:ext cx="2274970" cy="227497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oogle Shape;134;p23">
              <a:extLst>
                <a:ext uri="{FF2B5EF4-FFF2-40B4-BE49-F238E27FC236}">
                  <a16:creationId xmlns:a16="http://schemas.microsoft.com/office/drawing/2014/main" id="{3382BCA9-3D11-62CB-321B-240BFBF0E00A}"/>
                </a:ext>
              </a:extLst>
            </p:cNvPr>
            <p:cNvSpPr txBox="1"/>
            <p:nvPr/>
          </p:nvSpPr>
          <p:spPr>
            <a:xfrm>
              <a:off x="5156936" y="1429477"/>
              <a:ext cx="1875120" cy="2195432"/>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3000" b="1" i="0" u="none" strike="noStrike" cap="none">
                  <a:solidFill>
                    <a:schemeClr val="bg1"/>
                  </a:solidFill>
                  <a:latin typeface="Arial"/>
                  <a:ea typeface="Arial"/>
                  <a:cs typeface="Arial"/>
                  <a:sym typeface="Arial"/>
                </a:rPr>
                <a:t>AI</a:t>
              </a:r>
            </a:p>
          </p:txBody>
        </p:sp>
        <p:sp>
          <p:nvSpPr>
            <p:cNvPr id="24" name="Google Shape;134;p23">
              <a:extLst>
                <a:ext uri="{FF2B5EF4-FFF2-40B4-BE49-F238E27FC236}">
                  <a16:creationId xmlns:a16="http://schemas.microsoft.com/office/drawing/2014/main" id="{31ADB365-F098-90BE-1170-C0F8C08A2CF1}"/>
                </a:ext>
              </a:extLst>
            </p:cNvPr>
            <p:cNvSpPr txBox="1"/>
            <p:nvPr/>
          </p:nvSpPr>
          <p:spPr>
            <a:xfrm>
              <a:off x="6997972" y="1375380"/>
              <a:ext cx="974956" cy="410328"/>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400" b="1" i="0" u="none" strike="noStrike" cap="none">
                  <a:solidFill>
                    <a:schemeClr val="bg1"/>
                  </a:solidFill>
                  <a:latin typeface="Arial"/>
                  <a:ea typeface="Arial"/>
                  <a:cs typeface="Arial"/>
                  <a:sym typeface="Arial"/>
                </a:rPr>
                <a:t>SCHOOL</a:t>
              </a:r>
            </a:p>
          </p:txBody>
        </p:sp>
      </p:grpSp>
      <p:sp>
        <p:nvSpPr>
          <p:cNvPr id="5" name="TextBox 4">
            <a:extLst>
              <a:ext uri="{FF2B5EF4-FFF2-40B4-BE49-F238E27FC236}">
                <a16:creationId xmlns:a16="http://schemas.microsoft.com/office/drawing/2014/main" id="{1B6FFF0F-F407-42ED-8439-975E1300F817}"/>
              </a:ext>
            </a:extLst>
          </p:cNvPr>
          <p:cNvSpPr txBox="1"/>
          <p:nvPr/>
        </p:nvSpPr>
        <p:spPr>
          <a:xfrm>
            <a:off x="143933" y="1022237"/>
            <a:ext cx="4271757" cy="3754874"/>
          </a:xfrm>
          <a:prstGeom prst="rect">
            <a:avLst/>
          </a:prstGeom>
          <a:noFill/>
        </p:spPr>
        <p:txBody>
          <a:bodyPr wrap="square" rtlCol="0">
            <a:spAutoFit/>
          </a:bodyPr>
          <a:lstStyle/>
          <a:p>
            <a:pPr algn="just"/>
            <a:r>
              <a:rPr lang="en-US" dirty="0"/>
              <a:t>To address this issue, tools such as Excel functions, Pivot Tables, charts, and conditional formatting are used to analyze employee data and transform it into interactive dashboards and visual reports for easy understanding. The analysis helps management identify the key factors responsible for employee attrition, such as job satisfaction, overtime, salary, work-life balance, and department-wise turnover trends. It also enables organizations to compare attrition rates across different employee categories and job roles. Through data-driven insights, the project supports HR teams in improving employee retention strategies, enhancing workplace satisfaction, reducing turnover costs, and increasing overall organizational productivity and performance.</a:t>
            </a:r>
          </a:p>
          <a:p>
            <a:endParaRPr lang="en-IN" dirty="0"/>
          </a:p>
        </p:txBody>
      </p:sp>
    </p:spTree>
    <p:extLst>
      <p:ext uri="{BB962C8B-B14F-4D97-AF65-F5344CB8AC3E}">
        <p14:creationId xmlns:p14="http://schemas.microsoft.com/office/powerpoint/2010/main" val="2975191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Google Shape;127;p22">
            <a:extLst>
              <a:ext uri="{FF2B5EF4-FFF2-40B4-BE49-F238E27FC236}">
                <a16:creationId xmlns:a16="http://schemas.microsoft.com/office/drawing/2014/main" id="{CC2ED9E3-05F2-5ECD-DD5B-3430C263D9B6}"/>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Project Demo</a:t>
            </a:r>
          </a:p>
        </p:txBody>
      </p:sp>
      <p:grpSp>
        <p:nvGrpSpPr>
          <p:cNvPr id="13" name="Group 12">
            <a:extLst>
              <a:ext uri="{FF2B5EF4-FFF2-40B4-BE49-F238E27FC236}">
                <a16:creationId xmlns:a16="http://schemas.microsoft.com/office/drawing/2014/main" id="{B5EF4296-6D6A-2195-AEDC-5739E9527820}"/>
              </a:ext>
            </a:extLst>
          </p:cNvPr>
          <p:cNvGrpSpPr/>
          <p:nvPr/>
        </p:nvGrpSpPr>
        <p:grpSpPr>
          <a:xfrm>
            <a:off x="1799924" y="1352550"/>
            <a:ext cx="5422232" cy="3199772"/>
            <a:chOff x="1159110" y="1292018"/>
            <a:chExt cx="5422232" cy="3199772"/>
          </a:xfrm>
        </p:grpSpPr>
        <p:sp>
          <p:nvSpPr>
            <p:cNvPr id="6" name="Oval 5">
              <a:extLst>
                <a:ext uri="{FF2B5EF4-FFF2-40B4-BE49-F238E27FC236}">
                  <a16:creationId xmlns:a16="http://schemas.microsoft.com/office/drawing/2014/main" id="{AA8EF506-DE96-236C-46F0-224868672ADF}"/>
                </a:ext>
              </a:extLst>
            </p:cNvPr>
            <p:cNvSpPr/>
            <p:nvPr/>
          </p:nvSpPr>
          <p:spPr>
            <a:xfrm>
              <a:off x="3217787" y="1292018"/>
              <a:ext cx="2826661" cy="282666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hlinkClick r:id="rId3"/>
              <a:extLst>
                <a:ext uri="{FF2B5EF4-FFF2-40B4-BE49-F238E27FC236}">
                  <a16:creationId xmlns:a16="http://schemas.microsoft.com/office/drawing/2014/main" id="{DED40980-3081-6659-4392-177BDDF9F096}"/>
                </a:ext>
              </a:extLst>
            </p:cNvPr>
            <p:cNvSpPr/>
            <p:nvPr/>
          </p:nvSpPr>
          <p:spPr>
            <a:xfrm>
              <a:off x="1159110" y="2630906"/>
              <a:ext cx="5422232" cy="1860884"/>
            </a:xfrm>
            <a:prstGeom prst="roundRect">
              <a:avLst>
                <a:gd name="adj" fmla="val 14943"/>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00A5BB1-3E0C-AD1B-4F66-76DA03418642}"/>
                </a:ext>
              </a:extLst>
            </p:cNvPr>
            <p:cNvSpPr txBox="1"/>
            <p:nvPr/>
          </p:nvSpPr>
          <p:spPr>
            <a:xfrm>
              <a:off x="1691508" y="3007350"/>
              <a:ext cx="4357437" cy="553998"/>
            </a:xfrm>
            <a:prstGeom prst="rect">
              <a:avLst/>
            </a:prstGeom>
            <a:noFill/>
          </p:spPr>
          <p:txBody>
            <a:bodyPr wrap="square">
              <a:spAutoFit/>
            </a:bodyPr>
            <a:lstStyle/>
            <a:p>
              <a:pPr algn="ctr"/>
              <a:r>
                <a:rPr lang="en-US" sz="3000" b="1" i="0" u="none" strike="noStrike" cap="none">
                  <a:solidFill>
                    <a:schemeClr val="bg1"/>
                  </a:solidFill>
                  <a:latin typeface="Arial"/>
                  <a:ea typeface="Arial"/>
                  <a:cs typeface="Arial"/>
                  <a:sym typeface="Arial"/>
                </a:rPr>
                <a:t>Website link </a:t>
              </a:r>
              <a:endParaRPr lang="en-US" sz="3000" b="1">
                <a:solidFill>
                  <a:schemeClr val="bg1"/>
                </a:solidFill>
              </a:endParaRPr>
            </a:p>
          </p:txBody>
        </p:sp>
        <p:sp>
          <p:nvSpPr>
            <p:cNvPr id="12" name="Rectangle 2">
              <a:extLst>
                <a:ext uri="{FF2B5EF4-FFF2-40B4-BE49-F238E27FC236}">
                  <a16:creationId xmlns:a16="http://schemas.microsoft.com/office/drawing/2014/main" id="{18516467-7CBC-2FFE-993C-F7C080FA7F0C}"/>
                </a:ext>
              </a:extLst>
            </p:cNvPr>
            <p:cNvSpPr>
              <a:spLocks noChangeArrowheads="1"/>
            </p:cNvSpPr>
            <p:nvPr/>
          </p:nvSpPr>
          <p:spPr bwMode="auto">
            <a:xfrm>
              <a:off x="1696004" y="3716807"/>
              <a:ext cx="434844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altLang="en-US" sz="1600">
                  <a:solidFill>
                    <a:schemeClr val="bg1"/>
                  </a:solidFill>
                  <a:hlinkClick r:id="rId4">
                    <a:extLst>
                      <a:ext uri="{A12FA001-AC4F-418D-AE19-62706E023703}">
                        <ahyp:hlinkClr xmlns:ahyp="http://schemas.microsoft.com/office/drawing/2018/hyperlinkcolor" val="tx"/>
                      </a:ext>
                    </a:extLst>
                  </a:hlinkClick>
                </a:rPr>
                <a:t>Multilingual Customer Feedback Analysis</a:t>
              </a:r>
              <a:endParaRPr lang="en-US" altLang="en-US" sz="1600" b="0" i="0" u="none" strike="noStrike" cap="none" normalizeH="0" baseline="0">
                <a:ln>
                  <a:noFill/>
                </a:ln>
                <a:solidFill>
                  <a:schemeClr val="bg1"/>
                </a:solidFill>
                <a:effectLst/>
                <a:latin typeface="Arial" panose="020B0604020202020204" pitchFamily="34" charset="0"/>
              </a:endParaRPr>
            </a:p>
          </p:txBody>
        </p:sp>
      </p:grpSp>
      <p:grpSp>
        <p:nvGrpSpPr>
          <p:cNvPr id="19" name="Group 18">
            <a:extLst>
              <a:ext uri="{FF2B5EF4-FFF2-40B4-BE49-F238E27FC236}">
                <a16:creationId xmlns:a16="http://schemas.microsoft.com/office/drawing/2014/main" id="{65058CC0-CC04-8036-24AE-51461F3C17DF}"/>
              </a:ext>
            </a:extLst>
          </p:cNvPr>
          <p:cNvGrpSpPr/>
          <p:nvPr/>
        </p:nvGrpSpPr>
        <p:grpSpPr>
          <a:xfrm>
            <a:off x="4393138" y="1229664"/>
            <a:ext cx="1757585" cy="1815552"/>
            <a:chOff x="686159" y="633457"/>
            <a:chExt cx="2849880" cy="2943873"/>
          </a:xfrm>
        </p:grpSpPr>
        <p:sp>
          <p:nvSpPr>
            <p:cNvPr id="18" name="Rectangle 17">
              <a:extLst>
                <a:ext uri="{FF2B5EF4-FFF2-40B4-BE49-F238E27FC236}">
                  <a16:creationId xmlns:a16="http://schemas.microsoft.com/office/drawing/2014/main" id="{1401590A-7F69-1C2D-2A3C-3BD68F2C27B2}"/>
                </a:ext>
              </a:extLst>
            </p:cNvPr>
            <p:cNvSpPr/>
            <p:nvPr/>
          </p:nvSpPr>
          <p:spPr>
            <a:xfrm>
              <a:off x="790438" y="1492457"/>
              <a:ext cx="2613660" cy="14935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erson on a computer screen&#10;&#10;Description automatically generated">
              <a:extLst>
                <a:ext uri="{FF2B5EF4-FFF2-40B4-BE49-F238E27FC236}">
                  <a16:creationId xmlns:a16="http://schemas.microsoft.com/office/drawing/2014/main" id="{AEFB9C29-B9A9-F09E-AF9C-106FEC826A3A}"/>
                </a:ext>
              </a:extLst>
            </p:cNvPr>
            <p:cNvPicPr>
              <a:picLocks noChangeAspect="1"/>
            </p:cNvPicPr>
            <p:nvPr/>
          </p:nvPicPr>
          <p:blipFill rotWithShape="1">
            <a:blip r:embed="rId5"/>
            <a:srcRect l="17439" r="18038"/>
            <a:stretch/>
          </p:blipFill>
          <p:spPr>
            <a:xfrm>
              <a:off x="686159" y="633457"/>
              <a:ext cx="2849880" cy="2943873"/>
            </a:xfrm>
            <a:prstGeom prst="rect">
              <a:avLst/>
            </a:prstGeom>
          </p:spPr>
        </p:pic>
      </p:grpSp>
    </p:spTree>
    <p:extLst>
      <p:ext uri="{BB962C8B-B14F-4D97-AF65-F5344CB8AC3E}">
        <p14:creationId xmlns:p14="http://schemas.microsoft.com/office/powerpoint/2010/main" val="4017130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14" name="Picture 13" descr="A group of people standing on a arrow&#10;&#10;Description automatically generated">
            <a:extLst>
              <a:ext uri="{FF2B5EF4-FFF2-40B4-BE49-F238E27FC236}">
                <a16:creationId xmlns:a16="http://schemas.microsoft.com/office/drawing/2014/main" id="{3AF0A26D-CA08-4444-AD3E-FF6B88FF92E5}"/>
              </a:ext>
            </a:extLst>
          </p:cNvPr>
          <p:cNvPicPr>
            <a:picLocks noChangeAspect="1"/>
          </p:cNvPicPr>
          <p:nvPr/>
        </p:nvPicPr>
        <p:blipFill>
          <a:blip r:embed="rId3"/>
          <a:stretch>
            <a:fillRect/>
          </a:stretch>
        </p:blipFill>
        <p:spPr>
          <a:xfrm flipH="1">
            <a:off x="4488180" y="1021274"/>
            <a:ext cx="4655820" cy="3100952"/>
          </a:xfrm>
          <a:prstGeom prst="rect">
            <a:avLst/>
          </a:prstGeom>
        </p:spPr>
      </p:pic>
      <p:sp>
        <p:nvSpPr>
          <p:cNvPr id="4" name="Google Shape;127;p22">
            <a:extLst>
              <a:ext uri="{FF2B5EF4-FFF2-40B4-BE49-F238E27FC236}">
                <a16:creationId xmlns:a16="http://schemas.microsoft.com/office/drawing/2014/main" id="{8896CF32-2381-134F-850C-1B4E39261E20}"/>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Future Scope</a:t>
            </a:r>
          </a:p>
        </p:txBody>
      </p:sp>
      <p:sp>
        <p:nvSpPr>
          <p:cNvPr id="5" name="TextBox 4">
            <a:extLst>
              <a:ext uri="{FF2B5EF4-FFF2-40B4-BE49-F238E27FC236}">
                <a16:creationId xmlns:a16="http://schemas.microsoft.com/office/drawing/2014/main" id="{FE923EE8-6ADB-48E7-A066-4377C9C91B4A}"/>
              </a:ext>
            </a:extLst>
          </p:cNvPr>
          <p:cNvSpPr txBox="1"/>
          <p:nvPr/>
        </p:nvSpPr>
        <p:spPr>
          <a:xfrm>
            <a:off x="139767" y="1204486"/>
            <a:ext cx="5390776" cy="3323987"/>
          </a:xfrm>
          <a:prstGeom prst="rect">
            <a:avLst/>
          </a:prstGeom>
          <a:noFill/>
        </p:spPr>
        <p:txBody>
          <a:bodyPr wrap="square" rtlCol="0">
            <a:spAutoFit/>
          </a:bodyPr>
          <a:lstStyle/>
          <a:p>
            <a:r>
              <a:rPr lang="en-US" b="1" dirty="0"/>
              <a:t>Predictive Employee Attrition Analysis Using AI/ML</a:t>
            </a:r>
          </a:p>
          <a:p>
            <a:r>
              <a:rPr lang="en-US" dirty="0"/>
              <a:t>In the future, advanced technologies such as Artificial Intelligence and Machine Learning can be used to predict employee attrition trends, identify employees at high risk of leaving, and analyze factors such as job satisfaction, overtime, salary, and work-life balance for better workforce planning and employee retention strategies.</a:t>
            </a:r>
          </a:p>
          <a:p>
            <a:endParaRPr lang="en-US" dirty="0"/>
          </a:p>
          <a:p>
            <a:r>
              <a:rPr lang="en-US" b="1" dirty="0"/>
              <a:t>Real-Time Interactive HR Dashboard Development</a:t>
            </a:r>
          </a:p>
          <a:p>
            <a:r>
              <a:rPr lang="en-US" dirty="0"/>
              <a:t>The project can be extended by creating real-time dashboards using tools like Power BI or Tableau to monitor live employee attrition rates, department-wise turnover, employee satisfaction levels, and workforce performance for faster and more effective HR decision-making.</a:t>
            </a:r>
          </a:p>
          <a:p>
            <a:endParaRPr lang="en-IN" dirty="0"/>
          </a:p>
        </p:txBody>
      </p:sp>
    </p:spTree>
    <p:extLst>
      <p:ext uri="{BB962C8B-B14F-4D97-AF65-F5344CB8AC3E}">
        <p14:creationId xmlns:p14="http://schemas.microsoft.com/office/powerpoint/2010/main" val="2621200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7" name="Google Shape;127;p22">
            <a:extLst>
              <a:ext uri="{FF2B5EF4-FFF2-40B4-BE49-F238E27FC236}">
                <a16:creationId xmlns:a16="http://schemas.microsoft.com/office/drawing/2014/main" id="{2CBB2190-2983-5B07-C14F-C0C1B82BC484}"/>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Conclusion</a:t>
            </a:r>
          </a:p>
        </p:txBody>
      </p:sp>
      <p:pic>
        <p:nvPicPr>
          <p:cNvPr id="9" name="Picture 8" descr="A person standing next to a clipboard with a checklist&#10;&#10;Description automatically generated">
            <a:extLst>
              <a:ext uri="{FF2B5EF4-FFF2-40B4-BE49-F238E27FC236}">
                <a16:creationId xmlns:a16="http://schemas.microsoft.com/office/drawing/2014/main" id="{E9417E3B-DDB5-FAE5-89DC-EBB8DF91425C}"/>
              </a:ext>
            </a:extLst>
          </p:cNvPr>
          <p:cNvPicPr>
            <a:picLocks noChangeAspect="1"/>
          </p:cNvPicPr>
          <p:nvPr/>
        </p:nvPicPr>
        <p:blipFill rotWithShape="1">
          <a:blip r:embed="rId3"/>
          <a:srcRect l="17552" r="12574"/>
          <a:stretch/>
        </p:blipFill>
        <p:spPr>
          <a:xfrm>
            <a:off x="5205663" y="1100827"/>
            <a:ext cx="3930314" cy="3749862"/>
          </a:xfrm>
          <a:prstGeom prst="rect">
            <a:avLst/>
          </a:prstGeom>
        </p:spPr>
      </p:pic>
      <p:sp>
        <p:nvSpPr>
          <p:cNvPr id="10" name="TextBox 9">
            <a:extLst>
              <a:ext uri="{FF2B5EF4-FFF2-40B4-BE49-F238E27FC236}">
                <a16:creationId xmlns:a16="http://schemas.microsoft.com/office/drawing/2014/main" id="{F0D92026-378C-4C42-86A3-201A8E1786D9}"/>
              </a:ext>
            </a:extLst>
          </p:cNvPr>
          <p:cNvSpPr txBox="1"/>
          <p:nvPr/>
        </p:nvSpPr>
        <p:spPr>
          <a:xfrm>
            <a:off x="242789" y="1100827"/>
            <a:ext cx="4572000" cy="3539430"/>
          </a:xfrm>
          <a:prstGeom prst="rect">
            <a:avLst/>
          </a:prstGeom>
          <a:noFill/>
        </p:spPr>
        <p:txBody>
          <a:bodyPr wrap="square">
            <a:spAutoFit/>
          </a:bodyPr>
          <a:lstStyle/>
          <a:p>
            <a:pPr marL="285750" indent="-285750">
              <a:buFont typeface="Arial" panose="020B0604020202020204" pitchFamily="34" charset="0"/>
              <a:buChar char="•"/>
            </a:pPr>
            <a:r>
              <a:rPr lang="en-US" dirty="0"/>
              <a:t>The project helps identify the major factors responsible for employee attrition and workforce turnover.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Employee analysis provides insights into attrition trends across different departments, job roles, age groups, and salary levels.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Attrition analysis helps understand the impact of factors such as job satisfaction, overtime, work-life balance, and promotions on employee retention.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Excel tools like Pivot Tables, charts, dashboards, and conditional formatting make employee data analysis and HR decision-making more effective and efficient.</a:t>
            </a:r>
          </a:p>
        </p:txBody>
      </p:sp>
    </p:spTree>
    <p:extLst>
      <p:ext uri="{BB962C8B-B14F-4D97-AF65-F5344CB8AC3E}">
        <p14:creationId xmlns:p14="http://schemas.microsoft.com/office/powerpoint/2010/main" val="3104766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thank you card&#10;&#10;Description automatically generated">
            <a:extLst>
              <a:ext uri="{FF2B5EF4-FFF2-40B4-BE49-F238E27FC236}">
                <a16:creationId xmlns:a16="http://schemas.microsoft.com/office/drawing/2014/main" id="{A93903B1-E7A1-B168-DEC2-0635A4163F59}"/>
              </a:ext>
            </a:extLst>
          </p:cNvPr>
          <p:cNvPicPr>
            <a:picLocks noChangeAspect="1"/>
          </p:cNvPicPr>
          <p:nvPr/>
        </p:nvPicPr>
        <p:blipFill rotWithShape="1">
          <a:blip r:embed="rId3"/>
          <a:srcRect l="9710" t="21904" r="9339"/>
          <a:stretch/>
        </p:blipFill>
        <p:spPr>
          <a:xfrm>
            <a:off x="1869484" y="1466831"/>
            <a:ext cx="5647194" cy="3064485"/>
          </a:xfrm>
          <a:prstGeom prst="rect">
            <a:avLst/>
          </a:prstGeom>
        </p:spPr>
      </p:pic>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34</TotalTime>
  <Words>445</Words>
  <Application>Microsoft Office PowerPoint</Application>
  <PresentationFormat>On-screen Show (16:9)</PresentationFormat>
  <Paragraphs>38</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917518942761</cp:lastModifiedBy>
  <cp:revision>10</cp:revision>
  <dcterms:modified xsi:type="dcterms:W3CDTF">2026-05-14T10:52:05Z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